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9" r:id="rId3"/>
    <p:sldId id="257" r:id="rId4"/>
    <p:sldId id="258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70" r:id="rId13"/>
    <p:sldId id="271" r:id="rId14"/>
    <p:sldId id="267" r:id="rId15"/>
    <p:sldId id="268" r:id="rId16"/>
    <p:sldId id="269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83630"/>
  </p:normalViewPr>
  <p:slideViewPr>
    <p:cSldViewPr snapToGrid="0">
      <p:cViewPr>
        <p:scale>
          <a:sx n="86" d="100"/>
          <a:sy n="86" d="100"/>
        </p:scale>
        <p:origin x="928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CC47B5-81AC-5B42-9EEF-AEE194F3AB7B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79EC8B-C543-2B4F-AF6C-C50A4B8B9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465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“We’ve spent 20 years writing code…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we are writing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the mindset hasn't changed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I am saying mindset has not changed? because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79EC8B-C543-2B4F-AF6C-C50A4B8B9F5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0706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79EC8B-C543-2B4F-AF6C-C50A4B8B9F5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975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 fontAlgn="t">
              <a:buFont typeface="Arial" panose="020B0604020202020204" pitchFamily="34" charset="0"/>
              <a:buChar char="•"/>
            </a:pPr>
            <a:endParaRPr lang="en-US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79EC8B-C543-2B4F-AF6C-C50A4B8B9F5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0442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means nearest match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79EC8B-C543-2B4F-AF6C-C50A4B8B9F5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8861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79EC8B-C543-2B4F-AF6C-C50A4B8B9F5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5642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 Explain reasoning clearly before final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79EC8B-C543-2B4F-AF6C-C50A4B8B9F5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2803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C6ADB-B291-2749-E764-09CE77B60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8F385F-9399-841C-2435-C89B9A428F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4ED57E-8FF3-54BF-A7DC-B469532158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 Explain reasoning clearly before final answer.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394C97-433E-3CEB-F915-292064232A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79EC8B-C543-2B4F-AF6C-C50A4B8B9F5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6308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44C61-198D-BF22-421C-6650BAB17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FDC0B8-09D5-B09F-AC51-7F9F7B8565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63F816-1711-2D2B-239F-BAAC14C346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 Explain reasoning clearly before final answer.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432E7F-66B0-8416-9654-927B2FCA11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79EC8B-C543-2B4F-AF6C-C50A4B8B9F5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764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Characteristics: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Strong reasoning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Good coding ability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Multi-domain knowledge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cases: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 generation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 design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Documentation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Chatbots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79EC8B-C543-2B4F-AF6C-C50A4B8B9F5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2754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79EC8B-C543-2B4F-AF6C-C50A4B8B9F5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5602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79EC8B-C543-2B4F-AF6C-C50A4B8B9F5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892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18F9D-29C5-83C5-8554-9142CF9D6C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CD87A8-DD66-D3CE-E646-D0CE2E5450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55B72-E32F-241B-B99E-6228A2E0D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503DB-2340-B442-A64E-F676C36C6721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712DD3-0B25-6C36-E04C-0FDD1A378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697A5-948F-49B1-39E7-86715B70E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92B51-2A28-AA40-9BC6-2C53FD0E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053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7CFE3-E05D-A905-AF2B-35715E21E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1AEB0-577E-81F8-1571-70D4284DA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55C36-0C90-5ACD-5613-673DF67F0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503DB-2340-B442-A64E-F676C36C6721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C7211-F694-6594-4F67-E7DA3BA86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EDFF7-2F8F-CDB0-F466-783C9E4AC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92B51-2A28-AA40-9BC6-2C53FD0E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781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2A02C-ECA6-4068-B99E-E4D698225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1239-20B8-5EC9-8BE9-BD63762D5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97283-2E11-1E7A-A51F-FDE8754C0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503DB-2340-B442-A64E-F676C36C6721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ECF65-F857-0479-7D1A-AFB413C53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55C54-997D-2E14-4C7B-EE6C4AD69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92B51-2A28-AA40-9BC6-2C53FD0E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037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F3242-ADD5-965A-EACD-9F5A1BBF4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4E326-A5F0-FCAB-1F3D-B53DF78498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9491EA-2A70-D37B-7467-A72851F145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4F3FF4-99B0-AB3A-3032-9D571E361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503DB-2340-B442-A64E-F676C36C6721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123BC0-4A45-401B-D648-7737A80C9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70A612-E24C-717E-A094-F8DE044DD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92B51-2A28-AA40-9BC6-2C53FD0E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133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94F70-254B-1754-E29A-7D739C36E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235BD3-B788-14B1-0C42-977F64A85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FD8CE9-A5F0-0AD2-085E-BE3521A5CC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4B32CA-98F1-DA04-F1E3-BAF0D292EC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02A485-80F0-1B9E-B9DD-2DE8855C94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CB2036-D30B-6210-D239-FE01EB048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503DB-2340-B442-A64E-F676C36C6721}" type="datetimeFigureOut">
              <a:rPr lang="en-US" smtClean="0"/>
              <a:t>6/3/26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F187BD-81DE-DF77-5E83-ECFBDC6F7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69E250-C23F-F290-8E41-81347621D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92B51-2A28-AA40-9BC6-2C53FD0E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486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77D9E-9C14-6D4D-14A8-200225660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DFFBDB-EB0D-E8A5-18DB-A47023DA9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503DB-2340-B442-A64E-F676C36C6721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83B5BE-EBF0-3F97-C946-54467D29D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5045D6-D9C5-8D74-542F-C16D115B2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92B51-2A28-AA40-9BC6-2C53FD0E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181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31A727-85CB-33F7-3A7F-CABD9837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503DB-2340-B442-A64E-F676C36C6721}" type="datetimeFigureOut">
              <a:rPr lang="en-US" smtClean="0"/>
              <a:t>6/3/26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F13496-5EA6-111B-DE2C-5B016C61D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2979F-BE88-1A3F-15B8-EF4DA755D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92B51-2A28-AA40-9BC6-2C53FD0E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253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D4D9B-324E-B754-52CD-76F7F7881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79F4A-7C25-842E-A69E-EFF696172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687EF5-6583-6F0D-FBD6-69572FA1F1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3C6C26-0041-F28B-3BEA-96383A087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503DB-2340-B442-A64E-F676C36C6721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AA014A-2826-C830-6407-FDBC94341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9BC2C-DCD8-C969-AD4C-DC4E66E2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92B51-2A28-AA40-9BC6-2C53FD0E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088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893FD-E1FF-CBE4-6BF3-6ADD548DD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BBC1D8-9137-B3D3-7309-692FFF80FB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C1BEFF-470E-F60D-E9B5-370FB1648A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ECB82-5644-9C95-F29A-55BDFCC7D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503DB-2340-B442-A64E-F676C36C6721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B9A51-8D03-95F6-9D6E-DF131B294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A7D4C9-9831-D430-4D01-891C28FF5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92B51-2A28-AA40-9BC6-2C53FD0E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148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AC75A-AB97-97CD-1263-FCABFD16B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1D37F7-3E3F-A4EC-2AD3-AE7F3ECADD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C87D4-6EE6-261A-85D5-D7002205E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503DB-2340-B442-A64E-F676C36C6721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ACD0E-D145-7A1C-EA74-3E82042FF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6D178-9828-6F1B-2EF0-A74D8C4E1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92B51-2A28-AA40-9BC6-2C53FD0E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424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B7DD2-2A90-B42E-23F8-F034E0714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4F26F1-E02D-C53A-D8B4-CD8877B91E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98CDF-8AA4-2CA5-0F84-8FCBA4683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503DB-2340-B442-A64E-F676C36C6721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4FC20-669C-9536-5536-39CFC4C3D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E233D-7601-58CE-C91B-05D063FC3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92B51-2A28-AA40-9BC6-2C53FD0E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115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8D7D10-BA9F-1319-228E-8B9909ED3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01CDC-1405-4D13-DE27-D8A900A62C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12DBB-C3D7-B12D-C575-ED6FAE250C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0503DB-2340-B442-A64E-F676C36C6721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795B2-D6F6-717B-411A-8FE68D9E69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98CB4-7DDB-2CC3-429D-D4E7A228C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A92B51-2A28-AA40-9BC6-2C53FD0E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797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7D7A02-907B-496F-BA7E-AA3780733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BA5268-0AE7-4CAD-9537-D0EB09E76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8D065B-39DA-4077-B9CF-E489CE4C0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CA20E0-90BA-B550-10EA-069FF5EA7B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9529" y="1562986"/>
            <a:ext cx="6884895" cy="2019451"/>
          </a:xfrm>
        </p:spPr>
        <p:txBody>
          <a:bodyPr anchor="b">
            <a:normAutofit fontScale="90000"/>
          </a:bodyPr>
          <a:lstStyle/>
          <a:p>
            <a:r>
              <a:rPr lang="en-US" dirty="0"/>
              <a:t>Why Prompt Engineering Matters</a:t>
            </a:r>
            <a:br>
              <a:rPr lang="en-US" dirty="0"/>
            </a:br>
            <a:endParaRPr 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7716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E6CAB-D9B1-C4D8-AFC7-D5C2CB9D4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A9A29C-0891-143A-8E84-B0D15B37AB96}"/>
              </a:ext>
            </a:extLst>
          </p:cNvPr>
          <p:cNvSpPr txBox="1"/>
          <p:nvPr/>
        </p:nvSpPr>
        <p:spPr>
          <a:xfrm>
            <a:off x="1267968" y="1874728"/>
            <a:ext cx="918057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sz="2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LLMs are: </a:t>
            </a:r>
            <a:endParaRPr lang="en-US" sz="2800" dirty="0"/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sz="2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deterministic programs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sz="2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databases 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sz="2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rule engines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sz="2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 are: 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sz="2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Probability-based text generators conditioned on context</a:t>
            </a:r>
          </a:p>
        </p:txBody>
      </p:sp>
    </p:spTree>
    <p:extLst>
      <p:ext uri="{BB962C8B-B14F-4D97-AF65-F5344CB8AC3E}">
        <p14:creationId xmlns:p14="http://schemas.microsoft.com/office/powerpoint/2010/main" val="2157276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73AF6B7-F2CB-C5E6-EF9F-867721E69B91}"/>
              </a:ext>
            </a:extLst>
          </p:cNvPr>
          <p:cNvSpPr txBox="1"/>
          <p:nvPr/>
        </p:nvSpPr>
        <p:spPr>
          <a:xfrm>
            <a:off x="1499616" y="1354142"/>
            <a:ext cx="7778496" cy="305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US" b="0" i="0" dirty="0">
                <a:effectLst/>
                <a:latin typeface="Segoe UI" panose="020B0502040204020203" pitchFamily="34" charset="0"/>
              </a:rPr>
              <a:t>“Prompt Engineering: The New Programming Language for AI”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A8CE5C-A707-6256-8FCC-C2EE8830B77E}"/>
              </a:ext>
            </a:extLst>
          </p:cNvPr>
          <p:cNvSpPr txBox="1"/>
          <p:nvPr/>
        </p:nvSpPr>
        <p:spPr>
          <a:xfrm>
            <a:off x="1621536" y="2279378"/>
            <a:ext cx="6096000" cy="305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US" b="0" i="0" dirty="0">
                <a:effectLst/>
                <a:latin typeface="Segoe UI" panose="020B0502040204020203" pitchFamily="34" charset="0"/>
              </a:rPr>
              <a:t>“Your AI Is Only as Smart as Your Prompt”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12021B-CA49-C061-E8F6-339F9A6A3EDA}"/>
              </a:ext>
            </a:extLst>
          </p:cNvPr>
          <p:cNvSpPr txBox="1"/>
          <p:nvPr/>
        </p:nvSpPr>
        <p:spPr>
          <a:xfrm>
            <a:off x="1621536" y="3276073"/>
            <a:ext cx="6096000" cy="305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US" b="0" i="0" dirty="0">
                <a:effectLst/>
                <a:latin typeface="Segoe UI" panose="020B0502040204020203" pitchFamily="34" charset="0"/>
              </a:rPr>
              <a:t>“Prompt = Program: Engineering Control over LLMs”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E1DDD1-4FBA-BE90-AC3E-4BEAA586DACD}"/>
              </a:ext>
            </a:extLst>
          </p:cNvPr>
          <p:cNvSpPr txBox="1"/>
          <p:nvPr/>
        </p:nvSpPr>
        <p:spPr>
          <a:xfrm>
            <a:off x="1621536" y="4437362"/>
            <a:ext cx="6096000" cy="305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US" b="0" i="0" dirty="0">
                <a:effectLst/>
                <a:latin typeface="Segoe UI" panose="020B0502040204020203" pitchFamily="34" charset="0"/>
              </a:rPr>
              <a:t>“You Don’t Control the Model — You Control the Prompt”</a:t>
            </a:r>
          </a:p>
        </p:txBody>
      </p:sp>
    </p:spTree>
    <p:extLst>
      <p:ext uri="{BB962C8B-B14F-4D97-AF65-F5344CB8AC3E}">
        <p14:creationId xmlns:p14="http://schemas.microsoft.com/office/powerpoint/2010/main" val="1545881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1530E-04C2-8A33-56F8-893DA9C26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E095AB-4E8A-DC21-6BA1-A4663054DA86}"/>
              </a:ext>
            </a:extLst>
          </p:cNvPr>
          <p:cNvSpPr txBox="1"/>
          <p:nvPr/>
        </p:nvSpPr>
        <p:spPr>
          <a:xfrm>
            <a:off x="849328" y="2596895"/>
            <a:ext cx="2306100" cy="769441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  <a:alpha val="98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4400" dirty="0"/>
              <a:t>Prompt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53E834-5FAC-1560-AE74-9F5430E298C0}"/>
              </a:ext>
            </a:extLst>
          </p:cNvPr>
          <p:cNvSpPr txBox="1"/>
          <p:nvPr/>
        </p:nvSpPr>
        <p:spPr>
          <a:xfrm>
            <a:off x="4653522" y="2600492"/>
            <a:ext cx="2306100" cy="769441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  <a:alpha val="98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4400" dirty="0"/>
              <a:t>LLM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DE8BB0-A34A-BFD1-13BD-335671E91AF6}"/>
              </a:ext>
            </a:extLst>
          </p:cNvPr>
          <p:cNvSpPr txBox="1"/>
          <p:nvPr/>
        </p:nvSpPr>
        <p:spPr>
          <a:xfrm>
            <a:off x="9036572" y="2596895"/>
            <a:ext cx="2306100" cy="769441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  <a:alpha val="98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4400" dirty="0"/>
              <a:t>Output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D7B1026-B31E-08BC-DFCF-ED10C14011E2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3155428" y="2981616"/>
            <a:ext cx="1498094" cy="35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E16A1D5-545E-0EB0-A3B3-F72508AC3603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6959622" y="2981615"/>
            <a:ext cx="207695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ightning Bolt 11">
            <a:extLst>
              <a:ext uri="{FF2B5EF4-FFF2-40B4-BE49-F238E27FC236}">
                <a16:creationId xmlns:a16="http://schemas.microsoft.com/office/drawing/2014/main" id="{A5A5E389-EE18-E03F-6FE7-B5160EBDF5B4}"/>
              </a:ext>
            </a:extLst>
          </p:cNvPr>
          <p:cNvSpPr/>
          <p:nvPr/>
        </p:nvSpPr>
        <p:spPr>
          <a:xfrm>
            <a:off x="1603947" y="1718926"/>
            <a:ext cx="854439" cy="769441"/>
          </a:xfrm>
          <a:prstGeom prst="lightningBol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331F75-C9AB-046D-61E3-0DFB8DCA1875}"/>
              </a:ext>
            </a:extLst>
          </p:cNvPr>
          <p:cNvSpPr txBox="1"/>
          <p:nvPr/>
        </p:nvSpPr>
        <p:spPr>
          <a:xfrm>
            <a:off x="532151" y="1003740"/>
            <a:ext cx="2780675" cy="305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US" b="0" i="0" dirty="0">
                <a:effectLst/>
                <a:latin typeface="Segoe UI" panose="020B0502040204020203" pitchFamily="34" charset="0"/>
              </a:rPr>
              <a:t>This is your control layer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128FE2-92BF-D6AC-A80E-3FADD6B8A8D0}"/>
              </a:ext>
            </a:extLst>
          </p:cNvPr>
          <p:cNvSpPr txBox="1"/>
          <p:nvPr/>
        </p:nvSpPr>
        <p:spPr>
          <a:xfrm>
            <a:off x="667062" y="3911283"/>
            <a:ext cx="2780675" cy="498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US" b="0" i="0" dirty="0">
                <a:effectLst/>
                <a:latin typeface="Segoe UI" panose="020B0502040204020203" pitchFamily="34" charset="0"/>
              </a:rPr>
              <a:t>The clearer the prompt, the better the result.”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EDC8BB-4355-C940-6E93-71E7A17390FF}"/>
              </a:ext>
            </a:extLst>
          </p:cNvPr>
          <p:cNvSpPr txBox="1"/>
          <p:nvPr/>
        </p:nvSpPr>
        <p:spPr>
          <a:xfrm>
            <a:off x="4061085" y="1003739"/>
            <a:ext cx="3059243" cy="305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US" b="0" i="0" dirty="0">
                <a:effectLst/>
                <a:latin typeface="Segoe UI" panose="020B0502040204020203" pitchFamily="34" charset="0"/>
              </a:rPr>
              <a:t>This is a probabilistic engine</a:t>
            </a:r>
          </a:p>
        </p:txBody>
      </p:sp>
      <p:sp>
        <p:nvSpPr>
          <p:cNvPr id="19" name="Lightning Bolt 18">
            <a:extLst>
              <a:ext uri="{FF2B5EF4-FFF2-40B4-BE49-F238E27FC236}">
                <a16:creationId xmlns:a16="http://schemas.microsoft.com/office/drawing/2014/main" id="{5FC45739-9F94-094B-E45B-7CDE2F201107}"/>
              </a:ext>
            </a:extLst>
          </p:cNvPr>
          <p:cNvSpPr/>
          <p:nvPr/>
        </p:nvSpPr>
        <p:spPr>
          <a:xfrm>
            <a:off x="4736267" y="1718925"/>
            <a:ext cx="854439" cy="769441"/>
          </a:xfrm>
          <a:prstGeom prst="lightningBol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27C648-E422-9219-DE47-C207FC522879}"/>
              </a:ext>
            </a:extLst>
          </p:cNvPr>
          <p:cNvSpPr txBox="1"/>
          <p:nvPr/>
        </p:nvSpPr>
        <p:spPr>
          <a:xfrm>
            <a:off x="4580120" y="3970259"/>
            <a:ext cx="2540208" cy="690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US" b="0" i="0" dirty="0">
                <a:effectLst/>
                <a:latin typeface="Segoe UI" panose="020B0502040204020203" pitchFamily="34" charset="0"/>
              </a:rPr>
              <a:t>it predicts the next best token base on your prompt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E49815-ACF8-661F-776D-681DE8C1807F}"/>
              </a:ext>
            </a:extLst>
          </p:cNvPr>
          <p:cNvSpPr txBox="1"/>
          <p:nvPr/>
        </p:nvSpPr>
        <p:spPr>
          <a:xfrm>
            <a:off x="8521909" y="3970259"/>
            <a:ext cx="3800007" cy="498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US" b="0" i="0" dirty="0">
                <a:effectLst/>
                <a:latin typeface="Segoe UI" panose="020B0502040204020203" pitchFamily="34" charset="0"/>
              </a:rPr>
              <a:t>It is the </a:t>
            </a:r>
            <a:r>
              <a:rPr lang="en-US" b="0" i="1" dirty="0">
                <a:effectLst/>
                <a:latin typeface="Segoe UI" panose="020B0502040204020203" pitchFamily="34" charset="0"/>
              </a:rPr>
              <a:t>best guess base on your prompt</a:t>
            </a:r>
            <a:r>
              <a:rPr lang="en-US" b="0" i="0" dirty="0">
                <a:effectLst/>
                <a:latin typeface="Segoe UI" panose="020B0502040204020203" pitchFamily="34" charset="0"/>
              </a:rPr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D31427-1727-3937-B7C4-982958DDBF8D}"/>
              </a:ext>
            </a:extLst>
          </p:cNvPr>
          <p:cNvSpPr txBox="1"/>
          <p:nvPr/>
        </p:nvSpPr>
        <p:spPr>
          <a:xfrm>
            <a:off x="8879176" y="986426"/>
            <a:ext cx="20769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Segoe UI" panose="020B0502040204020203" pitchFamily="34" charset="0"/>
              </a:rPr>
              <a:t>This is not truth.</a:t>
            </a:r>
            <a:br>
              <a:rPr lang="en-US" b="0" i="0" dirty="0">
                <a:effectLst/>
                <a:latin typeface="Segoe UI" panose="020B0502040204020203" pitchFamily="34" charset="0"/>
              </a:rPr>
            </a:br>
            <a:endParaRPr lang="en-US" dirty="0"/>
          </a:p>
        </p:txBody>
      </p:sp>
      <p:sp>
        <p:nvSpPr>
          <p:cNvPr id="26" name="Lightning Bolt 25">
            <a:extLst>
              <a:ext uri="{FF2B5EF4-FFF2-40B4-BE49-F238E27FC236}">
                <a16:creationId xmlns:a16="http://schemas.microsoft.com/office/drawing/2014/main" id="{3AA1ADD7-8793-F8CA-CD6C-506894B27F6B}"/>
              </a:ext>
            </a:extLst>
          </p:cNvPr>
          <p:cNvSpPr/>
          <p:nvPr/>
        </p:nvSpPr>
        <p:spPr>
          <a:xfrm>
            <a:off x="9490431" y="1632757"/>
            <a:ext cx="854439" cy="769441"/>
          </a:xfrm>
          <a:prstGeom prst="lightningBol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179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47ABD-E9D6-F93B-CFEE-3FDE5EE97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9BF1CB-DFC6-D8C4-2059-A7270C73BD13}"/>
              </a:ext>
            </a:extLst>
          </p:cNvPr>
          <p:cNvSpPr txBox="1"/>
          <p:nvPr/>
        </p:nvSpPr>
        <p:spPr>
          <a:xfrm>
            <a:off x="704538" y="2644170"/>
            <a:ext cx="2675743" cy="2677656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  <a:alpha val="98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Prompt: </a:t>
            </a:r>
          </a:p>
          <a:p>
            <a:r>
              <a:rPr lang="en-US" sz="3600" dirty="0"/>
              <a:t>Context + Instructions+ query</a:t>
            </a:r>
          </a:p>
          <a:p>
            <a:endParaRPr lang="en-US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1422E0-10C6-9FDE-951B-03F588451FE1}"/>
              </a:ext>
            </a:extLst>
          </p:cNvPr>
          <p:cNvSpPr txBox="1"/>
          <p:nvPr/>
        </p:nvSpPr>
        <p:spPr>
          <a:xfrm>
            <a:off x="4653522" y="2600491"/>
            <a:ext cx="2675742" cy="2862322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  <a:alpha val="98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LLM: </a:t>
            </a:r>
          </a:p>
          <a:p>
            <a:r>
              <a:rPr lang="en-US" sz="3600" dirty="0"/>
              <a:t>Pattern Prediction Engine</a:t>
            </a:r>
          </a:p>
          <a:p>
            <a:endParaRPr lang="en-US" sz="3600" dirty="0"/>
          </a:p>
          <a:p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37251A-D042-6527-70D4-B6DD69C5348E}"/>
              </a:ext>
            </a:extLst>
          </p:cNvPr>
          <p:cNvSpPr txBox="1"/>
          <p:nvPr/>
        </p:nvSpPr>
        <p:spPr>
          <a:xfrm>
            <a:off x="9036572" y="2596895"/>
            <a:ext cx="2306100" cy="2800767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  <a:alpha val="98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Output: </a:t>
            </a:r>
          </a:p>
          <a:p>
            <a:r>
              <a:rPr lang="en-US" sz="3600" dirty="0"/>
              <a:t>Generated Response</a:t>
            </a:r>
          </a:p>
          <a:p>
            <a:endParaRPr lang="en-US" sz="4400" dirty="0"/>
          </a:p>
          <a:p>
            <a:endParaRPr lang="en-US" sz="44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8C5C94D-92C3-3D45-A502-35AC216DAB7B}"/>
              </a:ext>
            </a:extLst>
          </p:cNvPr>
          <p:cNvCxnSpPr>
            <a:cxnSpLocks/>
          </p:cNvCxnSpPr>
          <p:nvPr/>
        </p:nvCxnSpPr>
        <p:spPr>
          <a:xfrm flipV="1">
            <a:off x="3380281" y="4132924"/>
            <a:ext cx="1273241" cy="218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92CD45F-0DEC-739E-1244-33F15ABEFCFA}"/>
              </a:ext>
            </a:extLst>
          </p:cNvPr>
          <p:cNvCxnSpPr>
            <a:cxnSpLocks/>
          </p:cNvCxnSpPr>
          <p:nvPr/>
        </p:nvCxnSpPr>
        <p:spPr>
          <a:xfrm>
            <a:off x="7329264" y="4154763"/>
            <a:ext cx="17073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5238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BD256-8569-509E-BE3A-CB7D672C7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2F3013D-179B-B41E-D2BB-289DED68C8B4}"/>
              </a:ext>
            </a:extLst>
          </p:cNvPr>
          <p:cNvSpPr txBox="1"/>
          <p:nvPr/>
        </p:nvSpPr>
        <p:spPr>
          <a:xfrm>
            <a:off x="2878110" y="1016307"/>
            <a:ext cx="49017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50000"/>
              </a:lnSpc>
              <a:buNone/>
            </a:pPr>
            <a:r>
              <a:rPr lang="en-US" sz="3600" b="0" i="0" dirty="0">
                <a:effectLst/>
                <a:latin typeface="Segoe UI" panose="020B0502040204020203" pitchFamily="34" charset="0"/>
              </a:rPr>
              <a:t>Simple Principle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9C3179-EED6-4E0D-8C6D-542063A0D80E}"/>
              </a:ext>
            </a:extLst>
          </p:cNvPr>
          <p:cNvSpPr txBox="1"/>
          <p:nvPr/>
        </p:nvSpPr>
        <p:spPr>
          <a:xfrm>
            <a:off x="3050498" y="3183641"/>
            <a:ext cx="610099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egoe UI" panose="020B0502040204020203" pitchFamily="34" charset="0"/>
              </a:rPr>
              <a:t>You must define </a:t>
            </a:r>
            <a:r>
              <a:rPr lang="en-US" sz="2400" b="1" i="0" dirty="0">
                <a:effectLst/>
                <a:latin typeface="Segoe UI" panose="020B0502040204020203" pitchFamily="34" charset="0"/>
              </a:rPr>
              <a:t>inputs clearly</a:t>
            </a:r>
            <a:r>
              <a:rPr lang="en-US" sz="2400" b="0" i="0" dirty="0">
                <a:effectLst/>
                <a:latin typeface="Segoe UI" panose="020B0502040204020203" pitchFamily="34" charset="0"/>
              </a:rPr>
              <a:t> </a:t>
            </a:r>
          </a:p>
          <a:p>
            <a:pPr marL="285750" indent="-28575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egoe UI" panose="020B0502040204020203" pitchFamily="34" charset="0"/>
              </a:rPr>
              <a:t>Define </a:t>
            </a:r>
            <a:r>
              <a:rPr lang="en-US" sz="2400" b="1" i="0" dirty="0">
                <a:effectLst/>
                <a:latin typeface="Segoe UI" panose="020B0502040204020203" pitchFamily="34" charset="0"/>
              </a:rPr>
              <a:t>processing expectations</a:t>
            </a:r>
            <a:r>
              <a:rPr lang="en-US" sz="2400" b="0" i="0" dirty="0">
                <a:effectLst/>
                <a:latin typeface="Segoe UI" panose="020B0502040204020203" pitchFamily="34" charset="0"/>
              </a:rPr>
              <a:t> </a:t>
            </a:r>
          </a:p>
          <a:p>
            <a:pPr marL="285750" indent="-28575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egoe UI" panose="020B0502040204020203" pitchFamily="34" charset="0"/>
              </a:rPr>
              <a:t>Define </a:t>
            </a:r>
            <a:r>
              <a:rPr lang="en-US" sz="2400" b="1" i="0" dirty="0">
                <a:effectLst/>
                <a:latin typeface="Segoe UI" panose="020B0502040204020203" pitchFamily="34" charset="0"/>
              </a:rPr>
              <a:t>output format strictly</a:t>
            </a:r>
            <a:endParaRPr lang="en-US" sz="2400" b="0" i="0" dirty="0"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892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B377997-EE8E-7A9F-EB8C-17E5CECDFA18}"/>
              </a:ext>
            </a:extLst>
          </p:cNvPr>
          <p:cNvSpPr txBox="1"/>
          <p:nvPr/>
        </p:nvSpPr>
        <p:spPr>
          <a:xfrm>
            <a:off x="1079291" y="551611"/>
            <a:ext cx="92639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50000"/>
              </a:lnSpc>
              <a:buNone/>
            </a:pPr>
            <a:r>
              <a:rPr lang="en-US" sz="3600" b="0" i="0" dirty="0">
                <a:effectLst/>
                <a:latin typeface="Segoe UI" panose="020B0502040204020203" pitchFamily="34" charset="0"/>
              </a:rPr>
              <a:t>3 Core Parts of Every High-Quality Prompt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76CC63-1042-1C73-9393-F6D14D667DD3}"/>
              </a:ext>
            </a:extLst>
          </p:cNvPr>
          <p:cNvSpPr txBox="1"/>
          <p:nvPr/>
        </p:nvSpPr>
        <p:spPr>
          <a:xfrm>
            <a:off x="3045502" y="1678385"/>
            <a:ext cx="610099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200000"/>
              </a:lnSpc>
              <a:buNone/>
            </a:pPr>
            <a:r>
              <a:rPr lang="en-US" sz="3200" b="0" i="0" dirty="0">
                <a:effectLst/>
                <a:latin typeface="Segoe UI" panose="020B0502040204020203" pitchFamily="34" charset="0"/>
              </a:rPr>
              <a:t>You mentioned: </a:t>
            </a:r>
          </a:p>
          <a:p>
            <a:pPr lvl="1" fontAlgn="t">
              <a:lnSpc>
                <a:spcPct val="200000"/>
              </a:lnSpc>
            </a:pPr>
            <a:r>
              <a:rPr lang="en-US" sz="3200" b="0" i="0" dirty="0">
                <a:effectLst/>
                <a:latin typeface="Segoe UI" panose="020B0502040204020203" pitchFamily="34" charset="0"/>
              </a:rPr>
              <a:t>✅ Context</a:t>
            </a:r>
            <a:br>
              <a:rPr lang="en-US" sz="3200" b="0" i="0" dirty="0">
                <a:effectLst/>
                <a:latin typeface="Segoe UI" panose="020B0502040204020203" pitchFamily="34" charset="0"/>
              </a:rPr>
            </a:br>
            <a:r>
              <a:rPr lang="en-US" sz="3200" b="0" i="0" dirty="0">
                <a:effectLst/>
                <a:latin typeface="Segoe UI" panose="020B0502040204020203" pitchFamily="34" charset="0"/>
              </a:rPr>
              <a:t>✅ Instruction</a:t>
            </a:r>
            <a:br>
              <a:rPr lang="en-US" sz="3200" b="0" i="0" dirty="0">
                <a:effectLst/>
                <a:latin typeface="Segoe UI" panose="020B0502040204020203" pitchFamily="34" charset="0"/>
              </a:rPr>
            </a:br>
            <a:r>
              <a:rPr lang="en-US" sz="3200" b="0" i="0" dirty="0">
                <a:effectLst/>
                <a:latin typeface="Segoe UI" panose="020B0502040204020203" pitchFamily="34" charset="0"/>
              </a:rPr>
              <a:t>✅ Query</a:t>
            </a:r>
          </a:p>
        </p:txBody>
      </p:sp>
    </p:spTree>
    <p:extLst>
      <p:ext uri="{BB962C8B-B14F-4D97-AF65-F5344CB8AC3E}">
        <p14:creationId xmlns:p14="http://schemas.microsoft.com/office/powerpoint/2010/main" val="3135427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D3725-4644-4D54-9741-15AE4DE66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MUST be included in Context(1/2)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49709-586B-A534-F4D0-B3044830B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Role (Who the model is)</a:t>
            </a:r>
          </a:p>
          <a:p>
            <a:pPr lvl="1" fontAlgn="t"/>
            <a:r>
              <a:rPr lang="en-US" dirty="0"/>
              <a:t>Why:</a:t>
            </a:r>
          </a:p>
          <a:p>
            <a:pPr lvl="2" fontAlgn="t"/>
            <a:r>
              <a:rPr lang="en-US" dirty="0"/>
              <a:t>Sets expertise level</a:t>
            </a:r>
          </a:p>
          <a:p>
            <a:pPr lvl="2" fontAlgn="t"/>
            <a:r>
              <a:rPr lang="en-US" dirty="0"/>
              <a:t>Controls tone + depth</a:t>
            </a:r>
          </a:p>
          <a:p>
            <a:pPr lvl="1"/>
            <a:r>
              <a:rPr lang="en-US" dirty="0"/>
              <a:t>Example:</a:t>
            </a:r>
          </a:p>
          <a:p>
            <a:pPr lvl="2"/>
            <a:r>
              <a:rPr lang="en-US" dirty="0"/>
              <a:t>You are a senior Java architect specializing in distributed systems.</a:t>
            </a:r>
          </a:p>
          <a:p>
            <a:pPr marL="971550" lvl="1" indent="-514350">
              <a:buAutoNum type="arabicPeriod"/>
            </a:pPr>
            <a:endParaRPr lang="en-US" dirty="0"/>
          </a:p>
          <a:p>
            <a:r>
              <a:rPr lang="en-US" dirty="0"/>
              <a:t>System / Business Context</a:t>
            </a:r>
          </a:p>
          <a:p>
            <a:pPr lvl="1"/>
            <a:r>
              <a:rPr lang="en-US" dirty="0"/>
              <a:t>Without this: Model gives generic answer.</a:t>
            </a:r>
          </a:p>
          <a:p>
            <a:pPr lvl="1"/>
            <a:r>
              <a:rPr lang="en-US" dirty="0"/>
              <a:t>Example:</a:t>
            </a:r>
          </a:p>
          <a:p>
            <a:pPr lvl="2"/>
            <a:r>
              <a:rPr lang="en-US" dirty="0"/>
              <a:t>We are building a high-traffic e-commerce platform handling 50k TPS.</a:t>
            </a:r>
          </a:p>
          <a:p>
            <a:r>
              <a:rPr lang="en-US" dirty="0"/>
              <a:t>Constraints</a:t>
            </a:r>
          </a:p>
          <a:p>
            <a:pPr lvl="1"/>
            <a:r>
              <a:rPr lang="en-US" dirty="0"/>
              <a:t>Example:</a:t>
            </a:r>
          </a:p>
          <a:p>
            <a:pPr lvl="2"/>
            <a:r>
              <a:rPr lang="en-US" dirty="0"/>
              <a:t>- Must support horizontal scaling</a:t>
            </a:r>
          </a:p>
          <a:p>
            <a:pPr lvl="2"/>
            <a:r>
              <a:rPr lang="en-US" dirty="0"/>
              <a:t>- Latency &lt; 100ms</a:t>
            </a:r>
          </a:p>
          <a:p>
            <a:pPr lvl="2"/>
            <a:r>
              <a:rPr lang="en-US" dirty="0"/>
              <a:t>- Cloud-native (Kubernetes)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830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2319D-3C96-6AA4-1C68-47131E3D4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198CC-E3F8-923E-C718-ADCB07A87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MUST be included in Context(2/2)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B31CC-3EA0-0AAB-25DE-D010F6D0D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t"/>
            <a:r>
              <a:rPr lang="en-US" dirty="0"/>
              <a:t>Audience</a:t>
            </a:r>
          </a:p>
          <a:p>
            <a:pPr lvl="1" fontAlgn="t"/>
            <a:r>
              <a:rPr lang="en-US" dirty="0"/>
              <a:t>Why:</a:t>
            </a:r>
          </a:p>
          <a:p>
            <a:pPr lvl="2" fontAlgn="t"/>
            <a:r>
              <a:rPr lang="en-US" dirty="0"/>
              <a:t>Depth </a:t>
            </a:r>
          </a:p>
          <a:p>
            <a:pPr lvl="2" fontAlgn="t"/>
            <a:r>
              <a:rPr lang="en-US" dirty="0"/>
              <a:t>Terminology </a:t>
            </a:r>
          </a:p>
          <a:p>
            <a:pPr lvl="2" fontAlgn="t"/>
            <a:r>
              <a:rPr lang="en-US" dirty="0"/>
              <a:t>Examples</a:t>
            </a:r>
          </a:p>
          <a:p>
            <a:pPr lvl="1"/>
            <a:r>
              <a:rPr lang="en-US" dirty="0"/>
              <a:t>Example:</a:t>
            </a:r>
          </a:p>
          <a:p>
            <a:pPr lvl="2"/>
            <a:r>
              <a:rPr lang="en-US" dirty="0"/>
              <a:t>The explanation is for senior engineers..</a:t>
            </a:r>
          </a:p>
          <a:p>
            <a:pPr marL="971550" lvl="1" indent="-514350">
              <a:buAutoNum type="arabicPeriod"/>
            </a:pPr>
            <a:endParaRPr lang="en-US" dirty="0"/>
          </a:p>
          <a:p>
            <a:pPr fontAlgn="t"/>
            <a:r>
              <a:rPr lang="en-US" dirty="0"/>
              <a:t>Data</a:t>
            </a:r>
          </a:p>
          <a:p>
            <a:pPr lvl="1"/>
            <a:r>
              <a:rPr lang="en-US" dirty="0"/>
              <a:t>Here is the existing code:</a:t>
            </a:r>
          </a:p>
          <a:p>
            <a:pPr lvl="2"/>
            <a:r>
              <a:rPr lang="en-US" dirty="0"/>
              <a:t>&lt;code snippet&gt;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136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49AD979-830E-FD50-A0F5-D2AE2A7A3715}"/>
              </a:ext>
            </a:extLst>
          </p:cNvPr>
          <p:cNvSpPr txBox="1"/>
          <p:nvPr/>
        </p:nvSpPr>
        <p:spPr>
          <a:xfrm>
            <a:off x="1386589" y="281788"/>
            <a:ext cx="96911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buNone/>
            </a:pPr>
            <a:r>
              <a:rPr lang="en-US" sz="3600" b="0" i="0" dirty="0">
                <a:effectLst/>
                <a:latin typeface="Segoe UI" panose="020B0502040204020203" pitchFamily="34" charset="0"/>
              </a:rPr>
              <a:t>Decompose Task (CRITICAL for complex tasks)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0F1EA5-0906-403E-EF08-288BF50822C6}"/>
              </a:ext>
            </a:extLst>
          </p:cNvPr>
          <p:cNvSpPr txBox="1"/>
          <p:nvPr/>
        </p:nvSpPr>
        <p:spPr>
          <a:xfrm>
            <a:off x="1716374" y="2397948"/>
            <a:ext cx="610099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/>
              <a:t>Step 1: Identify requirements  </a:t>
            </a:r>
          </a:p>
          <a:p>
            <a:pPr>
              <a:buNone/>
            </a:pPr>
            <a:r>
              <a:rPr lang="en-US" sz="3200" dirty="0"/>
              <a:t>Step 2: Propose architecture  </a:t>
            </a:r>
          </a:p>
          <a:p>
            <a:pPr>
              <a:buNone/>
            </a:pPr>
            <a:r>
              <a:rPr lang="en-US" sz="3200" dirty="0"/>
              <a:t>Step 3: Evaluate trade-offs  </a:t>
            </a:r>
          </a:p>
          <a:p>
            <a:pPr>
              <a:buNone/>
            </a:pPr>
            <a:r>
              <a:rPr lang="en-US" sz="3200" dirty="0"/>
              <a:t>Step 4: Recommend solution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039649-BB9D-1D3D-E601-FC8E2DDDD098}"/>
              </a:ext>
            </a:extLst>
          </p:cNvPr>
          <p:cNvSpPr txBox="1"/>
          <p:nvPr/>
        </p:nvSpPr>
        <p:spPr>
          <a:xfrm>
            <a:off x="854439" y="1723869"/>
            <a:ext cx="1111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399970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C19E1-F283-1146-42AC-92AAF1A5B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C1244C-8D74-6F70-CCC1-EAC67D15A5F6}"/>
              </a:ext>
            </a:extLst>
          </p:cNvPr>
          <p:cNvSpPr txBox="1"/>
          <p:nvPr/>
        </p:nvSpPr>
        <p:spPr>
          <a:xfrm>
            <a:off x="1926235" y="716503"/>
            <a:ext cx="6100996" cy="375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US" sz="3600" b="0" i="0" dirty="0">
                <a:effectLst/>
                <a:latin typeface="Segoe UI" panose="020B0502040204020203" pitchFamily="34" charset="0"/>
              </a:rPr>
              <a:t>Add Thinking Constraints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DA556F-30D9-E186-D27F-3014AE8C9F0F}"/>
              </a:ext>
            </a:extLst>
          </p:cNvPr>
          <p:cNvSpPr txBox="1"/>
          <p:nvPr/>
        </p:nvSpPr>
        <p:spPr>
          <a:xfrm>
            <a:off x="1926235" y="2844225"/>
            <a:ext cx="691796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Think step-by-step before answering.</a:t>
            </a:r>
          </a:p>
          <a:p>
            <a:endParaRPr lang="en-US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401351-F793-7E2B-4F1C-BB39654113D2}"/>
              </a:ext>
            </a:extLst>
          </p:cNvPr>
          <p:cNvSpPr txBox="1"/>
          <p:nvPr/>
        </p:nvSpPr>
        <p:spPr>
          <a:xfrm>
            <a:off x="854439" y="1723869"/>
            <a:ext cx="1111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1999952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61F86-3328-6BE2-D574-91FC3154E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BEC436-4885-1EBD-69DB-DAE0A174D187}"/>
              </a:ext>
            </a:extLst>
          </p:cNvPr>
          <p:cNvSpPr txBox="1"/>
          <p:nvPr/>
        </p:nvSpPr>
        <p:spPr>
          <a:xfrm>
            <a:off x="1926235" y="716503"/>
            <a:ext cx="61009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sz="3600" dirty="0"/>
              <a:t>Control Scope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D57CD9-D25C-FA4E-96F4-BDD1710EB377}"/>
              </a:ext>
            </a:extLst>
          </p:cNvPr>
          <p:cNvSpPr txBox="1"/>
          <p:nvPr/>
        </p:nvSpPr>
        <p:spPr>
          <a:xfrm>
            <a:off x="1926235" y="2844225"/>
            <a:ext cx="691796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Focus only on backend architecture.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DEA52C-101A-3013-682A-D53FC7C72B41}"/>
              </a:ext>
            </a:extLst>
          </p:cNvPr>
          <p:cNvSpPr txBox="1"/>
          <p:nvPr/>
        </p:nvSpPr>
        <p:spPr>
          <a:xfrm>
            <a:off x="854439" y="1723869"/>
            <a:ext cx="1111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2559232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8C633-A680-E2D5-5ACD-51380C819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AB394A-997A-4AD8-A253-18F2F601A873}"/>
              </a:ext>
            </a:extLst>
          </p:cNvPr>
          <p:cNvSpPr txBox="1"/>
          <p:nvPr/>
        </p:nvSpPr>
        <p:spPr>
          <a:xfrm>
            <a:off x="1965897" y="401709"/>
            <a:ext cx="61009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sz="3600" dirty="0"/>
              <a:t>OUTPUT FORMAT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B9CCA9-4D61-ECDE-F3C1-64A97966E06C}"/>
              </a:ext>
            </a:extLst>
          </p:cNvPr>
          <p:cNvSpPr txBox="1"/>
          <p:nvPr/>
        </p:nvSpPr>
        <p:spPr>
          <a:xfrm>
            <a:off x="854439" y="1723869"/>
            <a:ext cx="1111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A32005-07F8-DC17-C741-380E41EE15D2}"/>
              </a:ext>
            </a:extLst>
          </p:cNvPr>
          <p:cNvSpPr txBox="1"/>
          <p:nvPr/>
        </p:nvSpPr>
        <p:spPr>
          <a:xfrm>
            <a:off x="854439" y="2769030"/>
            <a:ext cx="3342807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US" b="0" i="0" dirty="0">
                <a:effectLst/>
                <a:latin typeface="Segoe UI" panose="020B0502040204020203" pitchFamily="34" charset="0"/>
              </a:rPr>
              <a:t>Option 1: Structured bullets</a:t>
            </a:r>
          </a:p>
          <a:p>
            <a:pPr fontAlgn="t">
              <a:lnSpc>
                <a:spcPts val="1500"/>
              </a:lnSpc>
              <a:buNone/>
            </a:pPr>
            <a:endParaRPr lang="en-US" dirty="0">
              <a:latin typeface="Segoe UI" panose="020B0502040204020203" pitchFamily="34" charset="0"/>
            </a:endParaRPr>
          </a:p>
          <a:p>
            <a:r>
              <a:rPr lang="en-US" dirty="0"/>
              <a:t>Output:</a:t>
            </a:r>
          </a:p>
          <a:p>
            <a:r>
              <a:rPr lang="en-US" dirty="0"/>
              <a:t>- Architecture</a:t>
            </a:r>
          </a:p>
          <a:p>
            <a:r>
              <a:rPr lang="en-US" dirty="0"/>
              <a:t>- Components</a:t>
            </a:r>
          </a:p>
          <a:p>
            <a:r>
              <a:rPr lang="en-US" dirty="0"/>
              <a:t>- Trade-offs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D028D2-B5B0-BBF3-E403-F149A90703B2}"/>
              </a:ext>
            </a:extLst>
          </p:cNvPr>
          <p:cNvSpPr txBox="1"/>
          <p:nvPr/>
        </p:nvSpPr>
        <p:spPr>
          <a:xfrm>
            <a:off x="4236906" y="2093201"/>
            <a:ext cx="3829987" cy="1883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US" b="0" i="0" dirty="0">
                <a:effectLst/>
                <a:latin typeface="Segoe UI" panose="020B0502040204020203" pitchFamily="34" charset="0"/>
              </a:rPr>
              <a:t>Option 2: JSON (Best for engineers)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  "architecture": "",</a:t>
            </a:r>
          </a:p>
          <a:p>
            <a:r>
              <a:rPr lang="en-US" dirty="0"/>
              <a:t>  "components": [],</a:t>
            </a:r>
          </a:p>
          <a:p>
            <a:r>
              <a:rPr lang="en-US" dirty="0"/>
              <a:t>  "tradeoffs": []</a:t>
            </a:r>
          </a:p>
          <a:p>
            <a:r>
              <a:rPr lang="en-US" dirty="0"/>
              <a:t>}</a:t>
            </a:r>
          </a:p>
          <a:p>
            <a:pPr fontAlgn="t">
              <a:lnSpc>
                <a:spcPts val="1500"/>
              </a:lnSpc>
              <a:buNone/>
            </a:pPr>
            <a:endParaRPr lang="en-US" b="0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E79212-7C30-F4D7-4474-2BC3532D955A}"/>
              </a:ext>
            </a:extLst>
          </p:cNvPr>
          <p:cNvSpPr txBox="1"/>
          <p:nvPr/>
        </p:nvSpPr>
        <p:spPr>
          <a:xfrm>
            <a:off x="6893911" y="3823482"/>
            <a:ext cx="3829987" cy="1052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US" b="0" i="0" dirty="0">
                <a:effectLst/>
                <a:latin typeface="Segoe UI" panose="020B0502040204020203" pitchFamily="34" charset="0"/>
              </a:rPr>
              <a:t>Option 3: Tables</a:t>
            </a:r>
          </a:p>
          <a:p>
            <a:r>
              <a:rPr lang="en-US" dirty="0"/>
              <a:t>Provide comparison in table format:</a:t>
            </a:r>
          </a:p>
          <a:p>
            <a:r>
              <a:rPr lang="en-US" dirty="0"/>
              <a:t>Approach | Pros | Cons</a:t>
            </a:r>
          </a:p>
          <a:p>
            <a:pPr fontAlgn="t">
              <a:lnSpc>
                <a:spcPts val="1500"/>
              </a:lnSpc>
              <a:buNone/>
            </a:pPr>
            <a:endParaRPr lang="en-US" b="0" i="0" dirty="0"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0853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AAC8F-82EF-6AFC-9E20-D12A1F8BF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and Example Prompt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B626A6EC-6861-C28D-3E05-57F82C3A81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6449210"/>
              </p:ext>
            </p:extLst>
          </p:nvPr>
        </p:nvGraphicFramePr>
        <p:xfrm>
          <a:off x="5012663" y="2743200"/>
          <a:ext cx="1565937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showAsIcon="1" r:id="rId2" imgW="965200" imgH="609600" progId="Word.Document.12">
                  <p:embed/>
                </p:oleObj>
              </mc:Choice>
              <mc:Fallback>
                <p:oleObj name="Document" showAsIcon="1" r:id="rId2" imgW="965200" imgH="6096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12663" y="2743200"/>
                        <a:ext cx="1565937" cy="989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380674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EF8A8-F571-DDAA-F4C3-915CED0AB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46297-1301-8FBE-B088-374C07EE8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Choose Right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3D8BCF-5851-812D-552C-A5B62DE9FE12}"/>
              </a:ext>
            </a:extLst>
          </p:cNvPr>
          <p:cNvSpPr txBox="1"/>
          <p:nvPr/>
        </p:nvSpPr>
        <p:spPr>
          <a:xfrm>
            <a:off x="838200" y="1690688"/>
            <a:ext cx="3254115" cy="1290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US" sz="2400" i="0" dirty="0">
                <a:effectLst/>
                <a:latin typeface="Segoe UI" panose="020B0502040204020203" pitchFamily="34" charset="0"/>
              </a:rPr>
              <a:t>General-Purpose LLMs</a:t>
            </a:r>
          </a:p>
          <a:p>
            <a:pPr fontAlgn="t">
              <a:lnSpc>
                <a:spcPts val="1500"/>
              </a:lnSpc>
              <a:buNone/>
            </a:pPr>
            <a:endParaRPr lang="en-US" sz="2400" i="0" dirty="0">
              <a:effectLst/>
              <a:latin typeface="Segoe UI" panose="020B0502040204020203" pitchFamily="34" charset="0"/>
            </a:endParaRP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dirty="0"/>
              <a:t>GPT (OpenAI) 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dirty="0"/>
              <a:t>Claude (Anthropic) 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dirty="0"/>
              <a:t>Gemini (Google)</a:t>
            </a:r>
          </a:p>
          <a:p>
            <a:pPr fontAlgn="t">
              <a:lnSpc>
                <a:spcPts val="1500"/>
              </a:lnSpc>
              <a:buNone/>
            </a:pPr>
            <a:endParaRPr lang="en-US" sz="2400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C480D3-AFF1-60DC-DDCD-57D09B619452}"/>
              </a:ext>
            </a:extLst>
          </p:cNvPr>
          <p:cNvSpPr txBox="1"/>
          <p:nvPr/>
        </p:nvSpPr>
        <p:spPr>
          <a:xfrm>
            <a:off x="5292777" y="1690688"/>
            <a:ext cx="3686331" cy="1913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sz="2400" dirty="0"/>
              <a:t>Code-Specialized Models</a:t>
            </a:r>
          </a:p>
          <a:p>
            <a:pPr fontAlgn="t">
              <a:lnSpc>
                <a:spcPts val="1500"/>
              </a:lnSpc>
              <a:buNone/>
            </a:pPr>
            <a:endParaRPr lang="en-US" sz="2400" i="0" dirty="0">
              <a:effectLst/>
              <a:latin typeface="Segoe UI" panose="020B0502040204020203" pitchFamily="34" charset="0"/>
            </a:endParaRPr>
          </a:p>
          <a:p>
            <a:pPr marL="342900" indent="-342900" fontAlgn="t">
              <a:buFont typeface="Arial" panose="020B0604020202020204" pitchFamily="34" charset="0"/>
              <a:buChar char="•"/>
            </a:pPr>
            <a:r>
              <a:rPr lang="en-US" dirty="0" err="1">
                <a:latin typeface="Segoe UI" panose="020B0502040204020203" pitchFamily="34" charset="0"/>
              </a:rPr>
              <a:t>Github</a:t>
            </a:r>
            <a:r>
              <a:rPr lang="en-US" dirty="0">
                <a:latin typeface="Segoe UI" panose="020B0502040204020203" pitchFamily="34" charset="0"/>
              </a:rPr>
              <a:t> copilot</a:t>
            </a:r>
          </a:p>
          <a:p>
            <a:pPr marL="342900" indent="-342900" fontAlgn="t">
              <a:buFont typeface="Arial" panose="020B0604020202020204" pitchFamily="34" charset="0"/>
              <a:buChar char="•"/>
            </a:pPr>
            <a:r>
              <a:rPr lang="en-US" dirty="0"/>
              <a:t>Code Llama</a:t>
            </a:r>
          </a:p>
          <a:p>
            <a:pPr marL="342900" indent="-342900" fontAlgn="t">
              <a:buFont typeface="Arial" panose="020B0604020202020204" pitchFamily="34" charset="0"/>
              <a:buChar char="•"/>
            </a:pPr>
            <a:r>
              <a:rPr lang="en-US" dirty="0"/>
              <a:t>DeepSeek Coder</a:t>
            </a:r>
          </a:p>
          <a:p>
            <a:pPr fontAlgn="t">
              <a:lnSpc>
                <a:spcPts val="1500"/>
              </a:lnSpc>
              <a:buNone/>
            </a:pPr>
            <a:endParaRPr lang="en-US" sz="2400" i="0" dirty="0">
              <a:effectLst/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None/>
            </a:pPr>
            <a:endParaRPr lang="en-US" sz="2400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C06855-105F-5DE9-06B2-6A9AC3CEF597}"/>
              </a:ext>
            </a:extLst>
          </p:cNvPr>
          <p:cNvSpPr txBox="1"/>
          <p:nvPr/>
        </p:nvSpPr>
        <p:spPr>
          <a:xfrm>
            <a:off x="1487773" y="3876575"/>
            <a:ext cx="3686331" cy="1359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sz="2400" dirty="0"/>
              <a:t>Embedding Models</a:t>
            </a:r>
          </a:p>
          <a:p>
            <a:pPr fontAlgn="t">
              <a:lnSpc>
                <a:spcPts val="1500"/>
              </a:lnSpc>
              <a:buNone/>
            </a:pPr>
            <a:endParaRPr lang="en-US" sz="2400" i="0" dirty="0">
              <a:effectLst/>
              <a:latin typeface="Segoe UI" panose="020B0502040204020203" pitchFamily="34" charset="0"/>
            </a:endParaRP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Convert text → vectors</a:t>
            </a:r>
          </a:p>
          <a:p>
            <a:pPr fontAlgn="t">
              <a:lnSpc>
                <a:spcPts val="1500"/>
              </a:lnSpc>
              <a:buNone/>
            </a:pPr>
            <a:endParaRPr lang="en-US" sz="2400" i="0" dirty="0">
              <a:effectLst/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None/>
            </a:pPr>
            <a:endParaRPr lang="en-US" sz="2400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20D580-3759-1CAB-54D3-41B40624D9D7}"/>
              </a:ext>
            </a:extLst>
          </p:cNvPr>
          <p:cNvSpPr txBox="1"/>
          <p:nvPr/>
        </p:nvSpPr>
        <p:spPr>
          <a:xfrm>
            <a:off x="5477655" y="3876574"/>
            <a:ext cx="3686331" cy="1636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sz="2400" dirty="0"/>
              <a:t>Fine-tuned  Models</a:t>
            </a:r>
          </a:p>
          <a:p>
            <a:pPr fontAlgn="t">
              <a:lnSpc>
                <a:spcPts val="1500"/>
              </a:lnSpc>
              <a:buNone/>
            </a:pPr>
            <a:endParaRPr lang="en-US" sz="2400" i="0" dirty="0">
              <a:effectLst/>
              <a:latin typeface="Segoe UI" panose="020B0502040204020203" pitchFamily="34" charset="0"/>
            </a:endParaRP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Trained for specific domain (finance, legal, medical)</a:t>
            </a:r>
          </a:p>
          <a:p>
            <a:pPr fontAlgn="t">
              <a:lnSpc>
                <a:spcPts val="1500"/>
              </a:lnSpc>
              <a:buNone/>
            </a:pPr>
            <a:endParaRPr lang="en-US" sz="2400" i="0" dirty="0">
              <a:effectLst/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None/>
            </a:pPr>
            <a:endParaRPr lang="en-US" sz="2400" i="0" dirty="0"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46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A482E-E22E-E81A-8F06-B2CA17451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11EA-F807-AEF0-E6E0-019BE1992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Temperature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35B3F-CE27-6377-67B1-0D01C544B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0.0 → deterministic </a:t>
            </a:r>
          </a:p>
          <a:p>
            <a:r>
              <a:rPr lang="en-US" dirty="0"/>
              <a:t>1.0 → very creative/random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07315A-E4AA-2495-B2F1-CEC96CC98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099" y="1552575"/>
            <a:ext cx="6248400" cy="494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1933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C938A-282E-CBE3-CCEB-51835D833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(1/3)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2D2CF-77E2-EF74-E96B-3FF7F61B9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728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1. Design a food delivery application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7A153C-778F-C21F-A365-4B59CC6E2BE5}"/>
              </a:ext>
            </a:extLst>
          </p:cNvPr>
          <p:cNvSpPr txBox="1"/>
          <p:nvPr/>
        </p:nvSpPr>
        <p:spPr>
          <a:xfrm>
            <a:off x="838200" y="3197212"/>
            <a:ext cx="791605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3. We are building a food delivery application like Uber Eats.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dirty="0"/>
              <a:t>Requirements:</a:t>
            </a:r>
          </a:p>
          <a:p>
            <a:pPr>
              <a:buNone/>
            </a:pPr>
            <a:r>
              <a:rPr lang="en-US" dirty="0"/>
              <a:t>- Millions of users</a:t>
            </a:r>
          </a:p>
          <a:p>
            <a:pPr>
              <a:buNone/>
            </a:pPr>
            <a:r>
              <a:rPr lang="en-US" dirty="0"/>
              <a:t>- Real-time order tracking</a:t>
            </a:r>
          </a:p>
          <a:p>
            <a:pPr>
              <a:buNone/>
            </a:pPr>
            <a:r>
              <a:rPr lang="en-US" dirty="0"/>
              <a:t>- Multiple restaurants</a:t>
            </a:r>
          </a:p>
          <a:p>
            <a:pPr>
              <a:buNone/>
            </a:pPr>
            <a:r>
              <a:rPr lang="en-US" dirty="0"/>
              <a:t>- Payment integration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dirty="0"/>
              <a:t>Design the system.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3910F1-39A4-F3DE-331B-6F74A14ECE4E}"/>
              </a:ext>
            </a:extLst>
          </p:cNvPr>
          <p:cNvSpPr txBox="1"/>
          <p:nvPr/>
        </p:nvSpPr>
        <p:spPr>
          <a:xfrm>
            <a:off x="838200" y="2368445"/>
            <a:ext cx="61009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2. Design a food delivery application for users to order food online and get it delivered.</a:t>
            </a:r>
          </a:p>
        </p:txBody>
      </p:sp>
    </p:spTree>
    <p:extLst>
      <p:ext uri="{BB962C8B-B14F-4D97-AF65-F5344CB8AC3E}">
        <p14:creationId xmlns:p14="http://schemas.microsoft.com/office/powerpoint/2010/main" val="29243333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EA7B4-3651-CB01-C1FE-E3D3375A6918}"/>
              </a:ext>
            </a:extLst>
          </p:cNvPr>
          <p:cNvSpPr txBox="1"/>
          <p:nvPr/>
        </p:nvSpPr>
        <p:spPr>
          <a:xfrm>
            <a:off x="177384" y="375472"/>
            <a:ext cx="610099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You are a senior system architect.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dirty="0"/>
              <a:t>Context:</a:t>
            </a:r>
          </a:p>
          <a:p>
            <a:pPr>
              <a:buNone/>
            </a:pPr>
            <a:r>
              <a:rPr lang="en-US" dirty="0"/>
              <a:t>We are building a food delivery application like Uber Eats:</a:t>
            </a:r>
          </a:p>
          <a:p>
            <a:pPr>
              <a:buNone/>
            </a:pPr>
            <a:r>
              <a:rPr lang="en-US" dirty="0"/>
              <a:t>- Millions of users</a:t>
            </a:r>
          </a:p>
          <a:p>
            <a:pPr>
              <a:buNone/>
            </a:pPr>
            <a:r>
              <a:rPr lang="en-US" dirty="0"/>
              <a:t>- Real-time tracking</a:t>
            </a:r>
          </a:p>
          <a:p>
            <a:pPr>
              <a:buNone/>
            </a:pPr>
            <a:r>
              <a:rPr lang="en-US" dirty="0"/>
              <a:t>- Payment integration</a:t>
            </a:r>
          </a:p>
          <a:p>
            <a:pPr>
              <a:buNone/>
            </a:pPr>
            <a:r>
              <a:rPr lang="en-US" dirty="0"/>
              <a:t>- High availability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dirty="0"/>
              <a:t>Design the system.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F77595-8DCC-17DA-1477-D63D73A19328}"/>
              </a:ext>
            </a:extLst>
          </p:cNvPr>
          <p:cNvSpPr txBox="1"/>
          <p:nvPr/>
        </p:nvSpPr>
        <p:spPr>
          <a:xfrm>
            <a:off x="5913620" y="850217"/>
            <a:ext cx="610099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You are a senior system architect.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dirty="0"/>
              <a:t>Context:</a:t>
            </a:r>
          </a:p>
          <a:p>
            <a:pPr>
              <a:buNone/>
            </a:pPr>
            <a:r>
              <a:rPr lang="en-US" dirty="0"/>
              <a:t>Food delivery system:</a:t>
            </a:r>
          </a:p>
          <a:p>
            <a:pPr>
              <a:buNone/>
            </a:pPr>
            <a:r>
              <a:rPr lang="en-US" dirty="0"/>
              <a:t>- Millions of users</a:t>
            </a:r>
          </a:p>
          <a:p>
            <a:pPr>
              <a:buNone/>
            </a:pPr>
            <a:r>
              <a:rPr lang="en-US" dirty="0"/>
              <a:t>- Real-time tracking</a:t>
            </a:r>
          </a:p>
          <a:p>
            <a:pPr>
              <a:buNone/>
            </a:pPr>
            <a:r>
              <a:rPr lang="en-US" dirty="0"/>
              <a:t>- Payment integration</a:t>
            </a:r>
          </a:p>
          <a:p>
            <a:pPr>
              <a:buNone/>
            </a:pPr>
            <a:r>
              <a:rPr lang="en-US" dirty="0"/>
              <a:t>- High availability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dirty="0"/>
              <a:t>Instruction:</a:t>
            </a:r>
          </a:p>
          <a:p>
            <a:pPr>
              <a:buNone/>
            </a:pPr>
            <a:r>
              <a:rPr lang="en-US" dirty="0"/>
              <a:t>1. Identify functional requirements</a:t>
            </a:r>
          </a:p>
          <a:p>
            <a:pPr>
              <a:buNone/>
            </a:pPr>
            <a:r>
              <a:rPr lang="en-US" dirty="0"/>
              <a:t>2. Identify non-functional requirements</a:t>
            </a:r>
          </a:p>
          <a:p>
            <a:pPr>
              <a:buNone/>
            </a:pPr>
            <a:r>
              <a:rPr lang="en-US" dirty="0"/>
              <a:t>3. Design system architecture</a:t>
            </a:r>
          </a:p>
          <a:p>
            <a:pPr>
              <a:buNone/>
            </a:pPr>
            <a:r>
              <a:rPr lang="en-US" dirty="0"/>
              <a:t>4. Explain key components</a:t>
            </a:r>
          </a:p>
          <a:p>
            <a:pPr>
              <a:buNone/>
            </a:pPr>
            <a:r>
              <a:rPr lang="en-US" dirty="0"/>
              <a:t>5. Discuss trade-offs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dirty="0"/>
              <a:t>Design the system.</a:t>
            </a:r>
          </a:p>
        </p:txBody>
      </p:sp>
    </p:spTree>
    <p:extLst>
      <p:ext uri="{BB962C8B-B14F-4D97-AF65-F5344CB8AC3E}">
        <p14:creationId xmlns:p14="http://schemas.microsoft.com/office/powerpoint/2010/main" val="19824423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C7FF7-C6DC-CF37-336A-066E7392C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(3/3)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EFF76C-7573-4A0F-141D-296F536EFFF9}"/>
              </a:ext>
            </a:extLst>
          </p:cNvPr>
          <p:cNvSpPr txBox="1"/>
          <p:nvPr/>
        </p:nvSpPr>
        <p:spPr>
          <a:xfrm>
            <a:off x="5643797" y="365125"/>
            <a:ext cx="6100996" cy="10618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You are a senior system architect.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dirty="0"/>
              <a:t>Context:</a:t>
            </a:r>
          </a:p>
          <a:p>
            <a:pPr>
              <a:buNone/>
            </a:pPr>
            <a:r>
              <a:rPr lang="en-US" dirty="0"/>
              <a:t>Food delivery system:</a:t>
            </a:r>
          </a:p>
          <a:p>
            <a:pPr>
              <a:buNone/>
            </a:pPr>
            <a:r>
              <a:rPr lang="en-US" dirty="0"/>
              <a:t>- Millions of users</a:t>
            </a:r>
          </a:p>
          <a:p>
            <a:pPr>
              <a:buNone/>
            </a:pPr>
            <a:r>
              <a:rPr lang="en-US" dirty="0"/>
              <a:t>- Real-time tracking</a:t>
            </a:r>
          </a:p>
          <a:p>
            <a:pPr>
              <a:buNone/>
            </a:pPr>
            <a:r>
              <a:rPr lang="en-US" dirty="0"/>
              <a:t>- Payment integration</a:t>
            </a:r>
          </a:p>
          <a:p>
            <a:pPr>
              <a:buNone/>
            </a:pPr>
            <a:r>
              <a:rPr lang="en-US" dirty="0"/>
              <a:t>- High availability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dirty="0"/>
              <a:t>Instruction:</a:t>
            </a:r>
          </a:p>
          <a:p>
            <a:pPr>
              <a:buNone/>
            </a:pPr>
            <a:r>
              <a:rPr lang="en-US" dirty="0"/>
              <a:t>1. Identify functional requirements</a:t>
            </a:r>
          </a:p>
          <a:p>
            <a:pPr>
              <a:buNone/>
            </a:pPr>
            <a:r>
              <a:rPr lang="en-US" dirty="0"/>
              <a:t>2. Identify non-functional requirements</a:t>
            </a:r>
          </a:p>
          <a:p>
            <a:pPr>
              <a:buNone/>
            </a:pPr>
            <a:r>
              <a:rPr lang="en-US" dirty="0"/>
              <a:t>3. Design system architecture</a:t>
            </a:r>
          </a:p>
          <a:p>
            <a:pPr>
              <a:buNone/>
            </a:pPr>
            <a:r>
              <a:rPr lang="en-US" dirty="0"/>
              <a:t>4. Explain key components</a:t>
            </a:r>
          </a:p>
          <a:p>
            <a:pPr>
              <a:buNone/>
            </a:pPr>
            <a:r>
              <a:rPr lang="en-US" dirty="0"/>
              <a:t>5. Discuss trade-offs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dirty="0"/>
              <a:t>Design the system.</a:t>
            </a:r>
          </a:p>
          <a:p>
            <a:r>
              <a:rPr lang="en-US" dirty="0"/>
              <a:t>Output Format: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  "</a:t>
            </a:r>
            <a:r>
              <a:rPr lang="en-US" dirty="0" err="1"/>
              <a:t>functional_requirements</a:t>
            </a:r>
            <a:r>
              <a:rPr lang="en-US" dirty="0"/>
              <a:t>": [],</a:t>
            </a:r>
          </a:p>
          <a:p>
            <a:r>
              <a:rPr lang="en-US" dirty="0"/>
              <a:t>  "</a:t>
            </a:r>
            <a:r>
              <a:rPr lang="en-US" dirty="0" err="1"/>
              <a:t>non_functional_requirements</a:t>
            </a:r>
            <a:r>
              <a:rPr lang="en-US" dirty="0"/>
              <a:t>": [],</a:t>
            </a:r>
          </a:p>
          <a:p>
            <a:r>
              <a:rPr lang="en-US" dirty="0"/>
              <a:t>  "architecture": "",</a:t>
            </a:r>
          </a:p>
          <a:p>
            <a:r>
              <a:rPr lang="en-US" dirty="0"/>
              <a:t>  "components": [],</a:t>
            </a:r>
          </a:p>
          <a:p>
            <a:r>
              <a:rPr lang="en-US" dirty="0"/>
              <a:t>  "tradeoffs": []</a:t>
            </a:r>
          </a:p>
          <a:p>
            <a:r>
              <a:rPr lang="en-US" dirty="0"/>
              <a:t>}</a:t>
            </a:r>
          </a:p>
          <a:p>
            <a:pPr>
              <a:buNone/>
            </a:pPr>
            <a:endParaRPr lang="en-US" dirty="0"/>
          </a:p>
          <a:p>
            <a:r>
              <a:rPr lang="en-US" dirty="0" err="1"/>
              <a:t>onstraints</a:t>
            </a:r>
            <a:r>
              <a:rPr lang="en-US" dirty="0"/>
              <a:t>:</a:t>
            </a:r>
          </a:p>
          <a:p>
            <a:r>
              <a:rPr lang="en-US" dirty="0"/>
              <a:t>- Be specific to large-scale systems</a:t>
            </a:r>
          </a:p>
          <a:p>
            <a:r>
              <a:rPr lang="en-US" dirty="0"/>
              <a:t>- Avoid generic explanations</a:t>
            </a:r>
          </a:p>
          <a:p>
            <a:r>
              <a:rPr lang="en-US" dirty="0"/>
              <a:t>- Include real technologies where relevant</a:t>
            </a:r>
          </a:p>
          <a:p>
            <a:r>
              <a:rPr lang="en-US" dirty="0"/>
              <a:t>- If unsure, say "I don’t know"</a:t>
            </a:r>
          </a:p>
          <a:p>
            <a:r>
              <a:rPr lang="en-US" dirty="0"/>
              <a:t>Focus:</a:t>
            </a:r>
          </a:p>
          <a:p>
            <a:r>
              <a:rPr lang="en-US" dirty="0"/>
              <a:t>Backend distributed system only (ignore UI and mobile apps)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644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446E7-5D61-A3B9-9612-CD36DCACA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evaluate a Prompt</a:t>
            </a:r>
          </a:p>
        </p:txBody>
      </p:sp>
    </p:spTree>
    <p:extLst>
      <p:ext uri="{BB962C8B-B14F-4D97-AF65-F5344CB8AC3E}">
        <p14:creationId xmlns:p14="http://schemas.microsoft.com/office/powerpoint/2010/main" val="3454906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1132</TotalTime>
  <Words>845</Words>
  <Application>Microsoft Macintosh PowerPoint</Application>
  <PresentationFormat>Widescreen</PresentationFormat>
  <Paragraphs>213</Paragraphs>
  <Slides>20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Segoe UI</vt:lpstr>
      <vt:lpstr>Office Theme</vt:lpstr>
      <vt:lpstr>Microsoft Word Document</vt:lpstr>
      <vt:lpstr>Why Prompt Engineering Matters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MUST be included in Context(1/2) </vt:lpstr>
      <vt:lpstr>What MUST be included in Context(2/2) </vt:lpstr>
      <vt:lpstr>PowerPoint Presentation</vt:lpstr>
      <vt:lpstr>PowerPoint Presentation</vt:lpstr>
      <vt:lpstr>PowerPoint Presentation</vt:lpstr>
      <vt:lpstr>PowerPoint Presentation</vt:lpstr>
      <vt:lpstr>Template and Example Prompt </vt:lpstr>
      <vt:lpstr>Choose Right Model</vt:lpstr>
      <vt:lpstr>Temperature</vt:lpstr>
      <vt:lpstr>Demo (1/3)</vt:lpstr>
      <vt:lpstr>PowerPoint Presentation</vt:lpstr>
      <vt:lpstr>Demo (3/3)</vt:lpstr>
      <vt:lpstr>How to evaluate a Prompt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Panda, SM (Sudha Mohan)</dc:creator>
  <cp:lastModifiedBy>Panda, SM (Sudha Mohan)</cp:lastModifiedBy>
  <cp:revision>58</cp:revision>
  <dcterms:created xsi:type="dcterms:W3CDTF">2026-06-03T16:37:11Z</dcterms:created>
  <dcterms:modified xsi:type="dcterms:W3CDTF">2026-06-04T11:29:39Z</dcterms:modified>
</cp:coreProperties>
</file>